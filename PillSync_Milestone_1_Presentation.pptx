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607" dt="2026-09-01T12:27:15.5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00000000-0000-0000-0000-000000000000}"/>
    <pc:docChg chg="modSld">
      <pc:chgData name="Guest User" userId="" providerId="Windows Live" clId="Web-{00000000-0000-0000-0000-000000000000}" dt="2026-09-01T12:27:13.250" v="426" actId="20577"/>
      <pc:docMkLst>
        <pc:docMk/>
      </pc:docMkLst>
      <pc:sldChg chg="modSp">
        <pc:chgData name="Guest User" userId="" providerId="Windows Live" clId="Web-{00000000-0000-0000-0000-000000000000}" dt="2026-09-01T12:26:55.624" v="422" actId="20577"/>
        <pc:sldMkLst>
          <pc:docMk/>
          <pc:sldMk cId="0" sldId="256"/>
        </pc:sldMkLst>
        <pc:spChg chg="mod">
          <ac:chgData name="Guest User" userId="" providerId="Windows Live" clId="Web-{00000000-0000-0000-0000-000000000000}" dt="2026-09-01T12:26:55.624" v="422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Guest User" userId="" providerId="Windows Live" clId="Web-{00000000-0000-0000-0000-000000000000}" dt="2026-09-01T12:25:17.199" v="274" actId="20577"/>
          <ac:spMkLst>
            <pc:docMk/>
            <pc:sldMk cId="0" sldId="256"/>
            <ac:spMk id="7" creationId="{00000000-0000-0000-0000-000000000000}"/>
          </ac:spMkLst>
        </pc:spChg>
      </pc:sldChg>
      <pc:sldChg chg="modSp">
        <pc:chgData name="Guest User" userId="" providerId="Windows Live" clId="Web-{00000000-0000-0000-0000-000000000000}" dt="2026-09-01T12:27:13.250" v="426" actId="20577"/>
        <pc:sldMkLst>
          <pc:docMk/>
          <pc:sldMk cId="0" sldId="257"/>
        </pc:sldMkLst>
        <pc:spChg chg="mod">
          <ac:chgData name="Guest User" userId="" providerId="Windows Live" clId="Web-{00000000-0000-0000-0000-000000000000}" dt="2026-09-01T12:16:13.323" v="96" actId="20577"/>
          <ac:spMkLst>
            <pc:docMk/>
            <pc:sldMk cId="0" sldId="257"/>
            <ac:spMk id="6" creationId="{00000000-0000-0000-0000-000000000000}"/>
          </ac:spMkLst>
        </pc:spChg>
        <pc:spChg chg="mod">
          <ac:chgData name="Guest User" userId="" providerId="Windows Live" clId="Web-{00000000-0000-0000-0000-000000000000}" dt="2026-09-01T12:27:13.250" v="426" actId="20577"/>
          <ac:spMkLst>
            <pc:docMk/>
            <pc:sldMk cId="0" sldId="257"/>
            <ac:spMk id="8" creationId="{00000000-0000-0000-0000-000000000000}"/>
          </ac:spMkLst>
        </pc:spChg>
      </pc:sldChg>
      <pc:sldChg chg="modSp">
        <pc:chgData name="Guest User" userId="" providerId="Windows Live" clId="Web-{00000000-0000-0000-0000-000000000000}" dt="2026-09-01T12:15:43.118" v="89" actId="20577"/>
        <pc:sldMkLst>
          <pc:docMk/>
          <pc:sldMk cId="0" sldId="258"/>
        </pc:sldMkLst>
        <pc:spChg chg="mod">
          <ac:chgData name="Guest User" userId="" providerId="Windows Live" clId="Web-{00000000-0000-0000-0000-000000000000}" dt="2026-09-01T12:14:48.804" v="64" actId="20577"/>
          <ac:spMkLst>
            <pc:docMk/>
            <pc:sldMk cId="0" sldId="258"/>
            <ac:spMk id="6" creationId="{00000000-0000-0000-0000-000000000000}"/>
          </ac:spMkLst>
        </pc:spChg>
        <pc:spChg chg="mod">
          <ac:chgData name="Guest User" userId="" providerId="Windows Live" clId="Web-{00000000-0000-0000-0000-000000000000}" dt="2026-09-01T12:15:43.118" v="89" actId="20577"/>
          <ac:spMkLst>
            <pc:docMk/>
            <pc:sldMk cId="0" sldId="258"/>
            <ac:spMk id="8" creationId="{00000000-0000-0000-0000-000000000000}"/>
          </ac:spMkLst>
        </pc:spChg>
        <pc:spChg chg="mod">
          <ac:chgData name="Guest User" userId="" providerId="Windows Live" clId="Web-{00000000-0000-0000-0000-000000000000}" dt="2026-09-01T12:15:42.150" v="87" actId="20577"/>
          <ac:spMkLst>
            <pc:docMk/>
            <pc:sldMk cId="0" sldId="258"/>
            <ac:spMk id="10" creationId="{00000000-0000-0000-0000-000000000000}"/>
          </ac:spMkLst>
        </pc:spChg>
      </pc:sldChg>
      <pc:sldChg chg="modSp">
        <pc:chgData name="Guest User" userId="" providerId="Windows Live" clId="Web-{00000000-0000-0000-0000-000000000000}" dt="2026-09-01T12:17:33.184" v="115" actId="14100"/>
        <pc:sldMkLst>
          <pc:docMk/>
          <pc:sldMk cId="0" sldId="259"/>
        </pc:sldMkLst>
        <pc:spChg chg="mod">
          <ac:chgData name="Guest User" userId="" providerId="Windows Live" clId="Web-{00000000-0000-0000-0000-000000000000}" dt="2026-09-01T12:16:57.668" v="108" actId="20577"/>
          <ac:spMkLst>
            <pc:docMk/>
            <pc:sldMk cId="0" sldId="259"/>
            <ac:spMk id="5" creationId="{00000000-0000-0000-0000-000000000000}"/>
          </ac:spMkLst>
        </pc:spChg>
        <pc:picChg chg="mod">
          <ac:chgData name="Guest User" userId="" providerId="Windows Live" clId="Web-{00000000-0000-0000-0000-000000000000}" dt="2026-09-01T12:17:33.184" v="115" actId="14100"/>
          <ac:picMkLst>
            <pc:docMk/>
            <pc:sldMk cId="0" sldId="259"/>
            <ac:picMk id="6" creationId="{00000000-0000-0000-0000-000000000000}"/>
          </ac:picMkLst>
        </pc:picChg>
      </pc:sldChg>
      <pc:sldChg chg="modSp">
        <pc:chgData name="Guest User" userId="" providerId="Windows Live" clId="Web-{00000000-0000-0000-0000-000000000000}" dt="2026-09-01T12:17:27.341" v="114" actId="14100"/>
        <pc:sldMkLst>
          <pc:docMk/>
          <pc:sldMk cId="0" sldId="260"/>
        </pc:sldMkLst>
        <pc:spChg chg="mod">
          <ac:chgData name="Guest User" userId="" providerId="Windows Live" clId="Web-{00000000-0000-0000-0000-000000000000}" dt="2026-09-01T12:17:18.309" v="112" actId="20577"/>
          <ac:spMkLst>
            <pc:docMk/>
            <pc:sldMk cId="0" sldId="260"/>
            <ac:spMk id="5" creationId="{00000000-0000-0000-0000-000000000000}"/>
          </ac:spMkLst>
        </pc:spChg>
        <pc:picChg chg="mod">
          <ac:chgData name="Guest User" userId="" providerId="Windows Live" clId="Web-{00000000-0000-0000-0000-000000000000}" dt="2026-09-01T12:17:27.341" v="114" actId="14100"/>
          <ac:picMkLst>
            <pc:docMk/>
            <pc:sldMk cId="0" sldId="260"/>
            <ac:picMk id="6" creationId="{00000000-0000-0000-0000-000000000000}"/>
          </ac:picMkLst>
        </pc:picChg>
      </pc:sldChg>
      <pc:sldChg chg="modSp">
        <pc:chgData name="Guest User" userId="" providerId="Windows Live" clId="Web-{00000000-0000-0000-0000-000000000000}" dt="2026-09-01T12:17:59.935" v="120" actId="20577"/>
        <pc:sldMkLst>
          <pc:docMk/>
          <pc:sldMk cId="0" sldId="261"/>
        </pc:sldMkLst>
        <pc:spChg chg="mod">
          <ac:chgData name="Guest User" userId="" providerId="Windows Live" clId="Web-{00000000-0000-0000-0000-000000000000}" dt="2026-09-01T12:17:59.935" v="120" actId="20577"/>
          <ac:spMkLst>
            <pc:docMk/>
            <pc:sldMk cId="0" sldId="261"/>
            <ac:spMk id="5" creationId="{00000000-0000-0000-0000-000000000000}"/>
          </ac:spMkLst>
        </pc:spChg>
        <pc:picChg chg="mod">
          <ac:chgData name="Guest User" userId="" providerId="Windows Live" clId="Web-{00000000-0000-0000-0000-000000000000}" dt="2026-09-01T12:17:43.450" v="116" actId="14100"/>
          <ac:picMkLst>
            <pc:docMk/>
            <pc:sldMk cId="0" sldId="261"/>
            <ac:picMk id="6" creationId="{00000000-0000-0000-0000-000000000000}"/>
          </ac:picMkLst>
        </pc:picChg>
      </pc:sldChg>
      <pc:sldChg chg="modSp">
        <pc:chgData name="Guest User" userId="" providerId="Windows Live" clId="Web-{00000000-0000-0000-0000-000000000000}" dt="2026-09-01T12:18:29.358" v="128" actId="20577"/>
        <pc:sldMkLst>
          <pc:docMk/>
          <pc:sldMk cId="0" sldId="262"/>
        </pc:sldMkLst>
        <pc:spChg chg="mod">
          <ac:chgData name="Guest User" userId="" providerId="Windows Live" clId="Web-{00000000-0000-0000-0000-000000000000}" dt="2026-09-01T12:18:29.358" v="128" actId="20577"/>
          <ac:spMkLst>
            <pc:docMk/>
            <pc:sldMk cId="0" sldId="262"/>
            <ac:spMk id="5" creationId="{00000000-0000-0000-0000-000000000000}"/>
          </ac:spMkLst>
        </pc:spChg>
        <pc:picChg chg="mod">
          <ac:chgData name="Guest User" userId="" providerId="Windows Live" clId="Web-{00000000-0000-0000-0000-000000000000}" dt="2026-09-01T12:18:07.357" v="121" actId="14100"/>
          <ac:picMkLst>
            <pc:docMk/>
            <pc:sldMk cId="0" sldId="262"/>
            <ac:picMk id="6" creationId="{00000000-0000-0000-0000-000000000000}"/>
          </ac:picMkLst>
        </pc:picChg>
      </pc:sldChg>
      <pc:sldChg chg="modSp">
        <pc:chgData name="Guest User" userId="" providerId="Windows Live" clId="Web-{00000000-0000-0000-0000-000000000000}" dt="2026-09-01T12:19:52.033" v="156" actId="20577"/>
        <pc:sldMkLst>
          <pc:docMk/>
          <pc:sldMk cId="0" sldId="263"/>
        </pc:sldMkLst>
        <pc:spChg chg="mod">
          <ac:chgData name="Guest User" userId="" providerId="Windows Live" clId="Web-{00000000-0000-0000-0000-000000000000}" dt="2026-09-01T12:19:34.282" v="148" actId="20577"/>
          <ac:spMkLst>
            <pc:docMk/>
            <pc:sldMk cId="0" sldId="263"/>
            <ac:spMk id="6" creationId="{00000000-0000-0000-0000-000000000000}"/>
          </ac:spMkLst>
        </pc:spChg>
        <pc:spChg chg="mod">
          <ac:chgData name="Guest User" userId="" providerId="Windows Live" clId="Web-{00000000-0000-0000-0000-000000000000}" dt="2026-09-01T12:19:25.141" v="146" actId="20577"/>
          <ac:spMkLst>
            <pc:docMk/>
            <pc:sldMk cId="0" sldId="263"/>
            <ac:spMk id="8" creationId="{00000000-0000-0000-0000-000000000000}"/>
          </ac:spMkLst>
        </pc:spChg>
        <pc:spChg chg="mod">
          <ac:chgData name="Guest User" userId="" providerId="Windows Live" clId="Web-{00000000-0000-0000-0000-000000000000}" dt="2026-09-01T12:19:43.361" v="152" actId="20577"/>
          <ac:spMkLst>
            <pc:docMk/>
            <pc:sldMk cId="0" sldId="263"/>
            <ac:spMk id="10" creationId="{00000000-0000-0000-0000-000000000000}"/>
          </ac:spMkLst>
        </pc:spChg>
        <pc:spChg chg="mod">
          <ac:chgData name="Guest User" userId="" providerId="Windows Live" clId="Web-{00000000-0000-0000-0000-000000000000}" dt="2026-09-01T12:19:07.984" v="141" actId="1076"/>
          <ac:spMkLst>
            <pc:docMk/>
            <pc:sldMk cId="0" sldId="263"/>
            <ac:spMk id="11" creationId="{00000000-0000-0000-0000-000000000000}"/>
          </ac:spMkLst>
        </pc:spChg>
        <pc:spChg chg="mod">
          <ac:chgData name="Guest User" userId="" providerId="Windows Live" clId="Web-{00000000-0000-0000-0000-000000000000}" dt="2026-09-01T12:19:52.033" v="156" actId="20577"/>
          <ac:spMkLst>
            <pc:docMk/>
            <pc:sldMk cId="0" sldId="263"/>
            <ac:spMk id="12" creationId="{00000000-0000-0000-0000-000000000000}"/>
          </ac:spMkLst>
        </pc:spChg>
      </pc:sldChg>
      <pc:sldChg chg="modSp">
        <pc:chgData name="Guest User" userId="" providerId="Windows Live" clId="Web-{00000000-0000-0000-0000-000000000000}" dt="2026-09-01T12:20:35.440" v="169" actId="20577"/>
        <pc:sldMkLst>
          <pc:docMk/>
          <pc:sldMk cId="0" sldId="264"/>
        </pc:sldMkLst>
        <pc:spChg chg="mod">
          <ac:chgData name="Guest User" userId="" providerId="Windows Live" clId="Web-{00000000-0000-0000-0000-000000000000}" dt="2026-09-01T12:20:15.533" v="162" actId="20577"/>
          <ac:spMkLst>
            <pc:docMk/>
            <pc:sldMk cId="0" sldId="264"/>
            <ac:spMk id="6" creationId="{00000000-0000-0000-0000-000000000000}"/>
          </ac:spMkLst>
        </pc:spChg>
        <pc:spChg chg="mod">
          <ac:chgData name="Guest User" userId="" providerId="Windows Live" clId="Web-{00000000-0000-0000-0000-000000000000}" dt="2026-09-01T12:20:35.440" v="169" actId="20577"/>
          <ac:spMkLst>
            <pc:docMk/>
            <pc:sldMk cId="0" sldId="264"/>
            <ac:spMk id="8" creationId="{00000000-0000-0000-0000-000000000000}"/>
          </ac:spMkLst>
        </pc:spChg>
      </pc:sldChg>
      <pc:sldChg chg="modSp">
        <pc:chgData name="Guest User" userId="" providerId="Windows Live" clId="Web-{00000000-0000-0000-0000-000000000000}" dt="2026-09-01T12:21:22.036" v="178" actId="20577"/>
        <pc:sldMkLst>
          <pc:docMk/>
          <pc:sldMk cId="0" sldId="265"/>
        </pc:sldMkLst>
        <pc:spChg chg="mod">
          <ac:chgData name="Guest User" userId="" providerId="Windows Live" clId="Web-{00000000-0000-0000-0000-000000000000}" dt="2026-09-01T12:21:22.036" v="178" actId="20577"/>
          <ac:spMkLst>
            <pc:docMk/>
            <pc:sldMk cId="0" sldId="265"/>
            <ac:spMk id="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1645920"/>
            <a:ext cx="8534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DC143C"/>
                </a:solidFill>
              </a:defRPr>
            </a:pPr>
            <a:r>
              <a:t>PillSync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468880"/>
            <a:ext cx="8534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Intelligent Medicine Reminder &amp; Tracking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84974" y="2956560"/>
            <a:ext cx="4621778" cy="1200329"/>
          </a:xfrm>
          <a:prstGeom prst="rect">
            <a:avLst/>
          </a:prstGeom>
          <a:noFill/>
        </p:spPr>
        <p:txBody>
          <a:bodyPr wrap="none" lIns="91440" tIns="45720" rIns="91440" bIns="45720" anchor="ctr">
            <a:spAutoFit/>
          </a:bodyPr>
          <a:lstStyle/>
          <a:p>
            <a:pPr algn="ctr">
              <a:defRPr sz="1800" b="1">
                <a:solidFill>
                  <a:srgbClr val="DC143C"/>
                </a:solidFill>
              </a:defRPr>
            </a:pPr>
            <a:r>
              <a:rPr sz="2400"/>
              <a:t>Milestone 1:</a:t>
            </a:r>
            <a:endParaRPr lang="en-US" sz="2400">
              <a:ea typeface="Calibri"/>
              <a:cs typeface="Calibri"/>
            </a:endParaRPr>
          </a:p>
          <a:p>
            <a:pPr algn="ctr">
              <a:defRPr sz="1800" b="1">
                <a:solidFill>
                  <a:srgbClr val="DC143C"/>
                </a:solidFill>
              </a:defRPr>
            </a:pPr>
            <a:r>
              <a:rPr lang="en-US" sz="1600"/>
              <a:t>Role-based access control(patient/caregiver/admin)</a:t>
            </a:r>
            <a:endParaRPr lang="en-US" sz="1600">
              <a:ea typeface="Calibri"/>
              <a:cs typeface="Calibri"/>
            </a:endParaRPr>
          </a:p>
          <a:p>
            <a:pPr algn="ctr">
              <a:defRPr sz="1800" b="1">
                <a:solidFill>
                  <a:srgbClr val="DC143C"/>
                </a:solidFill>
              </a:defRPr>
            </a:pPr>
            <a:r>
              <a:rPr lang="en-US" sz="1600"/>
              <a:t> &amp; </a:t>
            </a:r>
            <a:endParaRPr lang="en-US" sz="1600">
              <a:ea typeface="Calibri"/>
              <a:cs typeface="Calibri"/>
            </a:endParaRPr>
          </a:p>
          <a:p>
            <a:pPr algn="ctr">
              <a:defRPr sz="1800" b="1">
                <a:solidFill>
                  <a:srgbClr val="DC143C"/>
                </a:solidFill>
              </a:defRPr>
            </a:pPr>
            <a:r>
              <a:rPr lang="en-US" sz="1600"/>
              <a:t>User profile management</a:t>
            </a:r>
            <a:endParaRPr sz="1600">
              <a:ea typeface="Calibri"/>
              <a:cs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29603" y="4297680"/>
            <a:ext cx="3932488" cy="121571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rPr lang="en-US" sz="2000"/>
              <a:t>Intern </a:t>
            </a:r>
            <a:r>
              <a:rPr sz="2000"/>
              <a:t>: Rajasri Nallamilli </a:t>
            </a:r>
            <a:endParaRPr lang="en-US" sz="2000">
              <a:ea typeface="Calibri"/>
              <a:cs typeface="Calibri"/>
            </a:endParaRPr>
          </a:p>
          <a:p>
            <a:pPr algn="ctr">
              <a:defRPr sz="1500" b="1">
                <a:solidFill>
                  <a:srgbClr val="0F172A"/>
                </a:solidFill>
              </a:defRPr>
            </a:pPr>
            <a:r>
              <a:rPr lang="en-US" sz="2000">
                <a:ea typeface="Calibri"/>
                <a:cs typeface="Calibri"/>
              </a:rPr>
              <a:t>Branch : intern/03-rajasri-nallamilli</a:t>
            </a:r>
          </a:p>
          <a:p>
            <a:pPr algn="ctr">
              <a:defRPr sz="1300">
                <a:solidFill>
                  <a:srgbClr val="64748B"/>
                </a:solidFill>
              </a:defRPr>
            </a:pPr>
            <a:r>
              <a:rPr lang="en-US" sz="2000" b="1">
                <a:solidFill>
                  <a:srgbClr val="0F172A"/>
                </a:solidFill>
                <a:ea typeface="Calibri"/>
                <a:cs typeface="Calibri"/>
              </a:rPr>
              <a:t>Submitted on:31-08-2026</a:t>
            </a:r>
          </a:p>
          <a:p>
            <a:pPr algn="ctr">
              <a:defRPr sz="1300">
                <a:solidFill>
                  <a:srgbClr val="64748B"/>
                </a:solidFill>
              </a:defRPr>
            </a:pPr>
            <a:endParaRPr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1F2"/>
          </a:solidFill>
          <a:ln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C143C"/>
                </a:solidFill>
              </a:defRPr>
            </a:pPr>
            <a:r>
              <a:t>01.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Project Overview &amp; Milestone 1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754880" cy="40934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800" b="1">
                <a:solidFill>
                  <a:srgbClr val="DC143C"/>
                </a:solidFill>
              </a:defRPr>
            </a:pPr>
            <a:r>
              <a:rPr sz="2400"/>
              <a:t>🎯 Problem Statement &amp; Goal</a:t>
            </a:r>
            <a:endParaRPr lang="en-US" sz="2400">
              <a:ea typeface="Calibri"/>
              <a:cs typeface="Calibri"/>
            </a:endParaRPr>
          </a:p>
          <a:p>
            <a:pPr>
              <a:defRPr sz="1300">
                <a:solidFill>
                  <a:srgbClr val="0F172A"/>
                </a:solidFill>
              </a:defRPr>
            </a:pPr>
            <a:endParaRPr lang="en-US" sz="2000" b="1">
              <a:solidFill>
                <a:srgbClr val="DC143C"/>
              </a:solidFill>
              <a:ea typeface="Calibri"/>
              <a:cs typeface="Calibri"/>
            </a:endParaRPr>
          </a:p>
          <a:p>
            <a:pPr>
              <a:defRPr sz="1300">
                <a:solidFill>
                  <a:srgbClr val="0F172A"/>
                </a:solidFill>
              </a:defRPr>
            </a:pPr>
            <a:r>
              <a:rPr sz="2000"/>
              <a:t>• </a:t>
            </a:r>
            <a:r>
              <a:rPr sz="2000" b="1"/>
              <a:t>Challenge: </a:t>
            </a:r>
            <a:r>
              <a:rPr sz="2000"/>
              <a:t>Medication non-adherence leads to severe health complications and preventable hospitalizations.</a:t>
            </a:r>
            <a:endParaRPr sz="2000">
              <a:ea typeface="Calibri"/>
              <a:cs typeface="Calibri"/>
            </a:endParaRPr>
          </a:p>
          <a:p>
            <a:pPr>
              <a:defRPr sz="1300">
                <a:solidFill>
                  <a:srgbClr val="0F172A"/>
                </a:solidFill>
              </a:defRPr>
            </a:pPr>
            <a:endParaRPr lang="en-US" sz="2000">
              <a:ea typeface="Calibri"/>
              <a:cs typeface="Calibri"/>
            </a:endParaRPr>
          </a:p>
          <a:p>
            <a:pPr>
              <a:defRPr sz="1300">
                <a:solidFill>
                  <a:srgbClr val="0F172A"/>
                </a:solidFill>
              </a:defRPr>
            </a:pPr>
            <a:r>
              <a:rPr sz="2000"/>
              <a:t>•</a:t>
            </a:r>
            <a:r>
              <a:rPr sz="2000" b="1"/>
              <a:t> Solution:</a:t>
            </a:r>
            <a:r>
              <a:rPr sz="2000"/>
              <a:t> </a:t>
            </a:r>
            <a:r>
              <a:rPr sz="2000" err="1"/>
              <a:t>PillSync</a:t>
            </a:r>
            <a:r>
              <a:rPr sz="2000"/>
              <a:t> is an intelligent multi-role platform that automates daily dose reminders, stock refill predictions, prescription OCR scanning, and caregiver alerts.</a:t>
            </a:r>
            <a:endParaRPr sz="2000">
              <a:ea typeface="Calibri"/>
              <a:cs typeface="Calibri"/>
            </a:endParaRPr>
          </a:p>
          <a:p>
            <a:pPr>
              <a:defRPr sz="1300">
                <a:solidFill>
                  <a:srgbClr val="0F172A"/>
                </a:solidFill>
              </a:defRPr>
            </a:pPr>
            <a:endParaRPr lang="en-US" sz="2000">
              <a:ea typeface="Calibri"/>
              <a:cs typeface="Calibri"/>
            </a:endParaRPr>
          </a:p>
          <a:p>
            <a:pPr>
              <a:defRPr sz="1300">
                <a:solidFill>
                  <a:srgbClr val="0F172A"/>
                </a:solidFill>
              </a:defRPr>
            </a:pPr>
            <a:endParaRPr lang="en-US" sz="1600">
              <a:ea typeface="Calibri"/>
              <a:cs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FF1F2"/>
          </a:solidFill>
          <a:ln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4846320" cy="31239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800" b="1">
                <a:solidFill>
                  <a:srgbClr val="DC143C"/>
                </a:solidFill>
              </a:defRPr>
            </a:pPr>
            <a:r>
              <a:t>👤</a:t>
            </a:r>
            <a:r>
              <a:rPr sz="2400"/>
              <a:t> </a:t>
            </a:r>
            <a:r>
              <a:rPr lang="en-US" sz="2400"/>
              <a:t>Milestone</a:t>
            </a:r>
            <a:r>
              <a:rPr sz="2400"/>
              <a:t> 1 Deliverables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endParaRPr lang="en-US" b="1">
              <a:solidFill>
                <a:srgbClr val="DC143C"/>
              </a:solidFill>
              <a:ea typeface="Calibri"/>
              <a:cs typeface="Calibri"/>
            </a:endParaRPr>
          </a:p>
          <a:p>
            <a:pPr>
              <a:defRPr sz="1300">
                <a:solidFill>
                  <a:srgbClr val="0F172A"/>
                </a:solidFill>
              </a:defRPr>
            </a:pPr>
            <a:r>
              <a:rPr sz="2000"/>
              <a:t>☑ Frontend Application Setup: Vite, React 18, Custom CSS Tokens (#ED4264, #DC143C).</a:t>
            </a:r>
            <a:endParaRPr sz="2000">
              <a:ea typeface="Calibri"/>
              <a:cs typeface="Calibri"/>
            </a:endParaRPr>
          </a:p>
          <a:p>
            <a:pPr>
              <a:defRPr sz="1300">
                <a:solidFill>
                  <a:srgbClr val="0F172A"/>
                </a:solidFill>
              </a:defRPr>
            </a:pPr>
            <a:endParaRPr lang="en-US" sz="2000">
              <a:ea typeface="Calibri"/>
              <a:cs typeface="Calibri"/>
            </a:endParaRPr>
          </a:p>
          <a:p>
            <a:pPr>
              <a:defRPr sz="1300">
                <a:solidFill>
                  <a:srgbClr val="0F172A"/>
                </a:solidFill>
              </a:defRPr>
            </a:pPr>
            <a:r>
              <a:rPr sz="2000"/>
              <a:t>☑ Workflow Architecture Planning: 4 core sequence &amp; flowchart diagrams.</a:t>
            </a:r>
            <a:endParaRPr sz="2000">
              <a:ea typeface="Calibri"/>
              <a:cs typeface="Calibri"/>
            </a:endParaRPr>
          </a:p>
          <a:p>
            <a:pPr>
              <a:defRPr sz="1300">
                <a:solidFill>
                  <a:srgbClr val="0F172A"/>
                </a:solidFill>
              </a:defRPr>
            </a:pPr>
            <a:endParaRPr lang="en-US" sz="2000">
              <a:ea typeface="Calibri"/>
              <a:cs typeface="Calibri"/>
            </a:endParaRPr>
          </a:p>
          <a:p>
            <a:pPr>
              <a:defRPr sz="1300">
                <a:solidFill>
                  <a:srgbClr val="0F172A"/>
                </a:solidFill>
              </a:defRPr>
            </a:pPr>
            <a:r>
              <a:rPr sz="2000"/>
              <a:t>☑ Role-Based Direct URL Routing: Clean navigation (/patient, /caregiver, /admin).</a:t>
            </a:r>
            <a:endParaRPr sz="20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1F2"/>
          </a:solidFill>
          <a:ln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C143C"/>
                </a:solidFill>
              </a:defRPr>
            </a:pPr>
            <a:r>
              <a:t>02.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Design Aesthetics &amp; URL Routing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3108960" cy="427809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600" b="1">
                <a:solidFill>
                  <a:srgbClr val="DC143C"/>
                </a:solidFill>
              </a:defRPr>
            </a:pPr>
            <a:r>
              <a:rPr sz="2400"/>
              <a:t>🎨 Color Palette &amp; Aesthetics</a:t>
            </a:r>
            <a:endParaRPr lang="en-US" sz="2400">
              <a:ea typeface="Calibri"/>
              <a:cs typeface="Calibri"/>
            </a:endParaRPr>
          </a:p>
          <a:p>
            <a:pPr>
              <a:defRPr sz="1300">
                <a:solidFill>
                  <a:srgbClr val="0F172A"/>
                </a:solidFill>
              </a:defRPr>
            </a:pPr>
            <a:endParaRPr lang="en-US" sz="2400" b="1">
              <a:solidFill>
                <a:srgbClr val="DC143C"/>
              </a:solidFill>
            </a:endParaRPr>
          </a:p>
          <a:p>
            <a:pPr>
              <a:defRPr sz="1300">
                <a:solidFill>
                  <a:srgbClr val="0F172A"/>
                </a:solidFill>
              </a:defRPr>
            </a:pPr>
            <a:r>
              <a:rPr sz="2000"/>
              <a:t>• Primary Crimson: #ED4264 &amp; #DC143C</a:t>
            </a:r>
            <a:br>
              <a:rPr sz="2000"/>
            </a:br>
            <a:r>
              <a:rPr sz="2000"/>
              <a:t>• Soft Rose Background: #FFF1F2</a:t>
            </a:r>
            <a:endParaRPr lang="en-US" sz="2000"/>
          </a:p>
          <a:p>
            <a:pPr>
              <a:defRPr sz="1300">
                <a:solidFill>
                  <a:srgbClr val="0F172A"/>
                </a:solidFill>
              </a:defRPr>
            </a:pPr>
            <a:br>
              <a:rPr sz="2000"/>
            </a:br>
            <a:r>
              <a:rPr sz="2000"/>
              <a:t>• </a:t>
            </a:r>
            <a:r>
              <a:rPr sz="2000" err="1"/>
              <a:t>Glassmorphic</a:t>
            </a:r>
            <a:r>
              <a:rPr sz="2000"/>
              <a:t> cards with subtle borders.</a:t>
            </a:r>
            <a:endParaRPr lang="en-US" sz="2000"/>
          </a:p>
          <a:p>
            <a:pPr>
              <a:defRPr sz="1300">
                <a:solidFill>
                  <a:srgbClr val="0F172A"/>
                </a:solidFill>
              </a:defRPr>
            </a:pPr>
            <a:br>
              <a:rPr sz="2000"/>
            </a:br>
            <a:r>
              <a:rPr sz="2000"/>
              <a:t>• Curved category headers &amp; high contrast text.</a:t>
            </a:r>
            <a:endParaRPr sz="2000">
              <a:ea typeface="Calibri"/>
              <a:cs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26280" y="1645920"/>
            <a:ext cx="3108960" cy="45243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600" b="1">
                <a:solidFill>
                  <a:srgbClr val="DC143C"/>
                </a:solidFill>
              </a:defRPr>
            </a:pPr>
            <a:r>
              <a:rPr sz="2400"/>
              <a:t>🌐 Direct URL Routing</a:t>
            </a:r>
            <a:endParaRPr lang="en-US" sz="2400">
              <a:ea typeface="Calibri"/>
              <a:cs typeface="Calibri"/>
            </a:endParaRPr>
          </a:p>
          <a:p>
            <a:pPr>
              <a:defRPr sz="1300">
                <a:solidFill>
                  <a:srgbClr val="0F172A"/>
                </a:solidFill>
              </a:defRPr>
            </a:pPr>
            <a:endParaRPr lang="en-US" sz="2400" b="1">
              <a:solidFill>
                <a:srgbClr val="DC143C"/>
              </a:solidFill>
            </a:endParaRPr>
          </a:p>
          <a:p>
            <a:pPr>
              <a:defRPr sz="1300">
                <a:solidFill>
                  <a:srgbClr val="0F172A"/>
                </a:solidFill>
              </a:defRPr>
            </a:pPr>
            <a:r>
              <a:rPr sz="2000"/>
              <a:t>• Configured react-router-</a:t>
            </a:r>
            <a:r>
              <a:rPr sz="2000" err="1"/>
              <a:t>dom</a:t>
            </a:r>
            <a:r>
              <a:rPr sz="2000"/>
              <a:t> </a:t>
            </a:r>
            <a:r>
              <a:rPr sz="2000" err="1"/>
              <a:t>BrowserRouter</a:t>
            </a:r>
            <a:r>
              <a:rPr sz="2000"/>
              <a:t>.</a:t>
            </a:r>
            <a:endParaRPr lang="en-US" sz="2000"/>
          </a:p>
          <a:p>
            <a:pPr>
              <a:defRPr sz="1300">
                <a:solidFill>
                  <a:srgbClr val="0F172A"/>
                </a:solidFill>
              </a:defRPr>
            </a:pPr>
            <a:br>
              <a:rPr sz="2000"/>
            </a:br>
            <a:r>
              <a:rPr sz="2000"/>
              <a:t>• Direct URL paths (/patient, /caregiver, /admin).</a:t>
            </a:r>
            <a:endParaRPr lang="en-US" sz="2000"/>
          </a:p>
          <a:p>
            <a:pPr>
              <a:defRPr sz="1300">
                <a:solidFill>
                  <a:srgbClr val="0F172A"/>
                </a:solidFill>
              </a:defRPr>
            </a:pPr>
            <a:br>
              <a:rPr sz="2000"/>
            </a:br>
            <a:r>
              <a:rPr sz="2000"/>
              <a:t>• Bypasses OAuth blockers for instant UI testing.</a:t>
            </a:r>
            <a:endParaRPr lang="en-US" sz="2000"/>
          </a:p>
          <a:p>
            <a:pPr>
              <a:defRPr sz="1300">
                <a:solidFill>
                  <a:srgbClr val="0F172A"/>
                </a:solidFill>
              </a:defRPr>
            </a:pPr>
            <a:br>
              <a:rPr sz="2000"/>
            </a:br>
            <a:r>
              <a:rPr sz="2000"/>
              <a:t>• Fully responsive across mobile &amp; desktop.</a:t>
            </a:r>
            <a:endParaRPr sz="2000">
              <a:ea typeface="Calibri"/>
              <a:cs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83880" y="1645920"/>
            <a:ext cx="3108960" cy="415498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600" b="1">
                <a:solidFill>
                  <a:srgbClr val="DC143C"/>
                </a:solidFill>
              </a:defRPr>
            </a:pPr>
            <a:r>
              <a:rPr sz="2400"/>
              <a:t>⚙️ Clean Empty State Design</a:t>
            </a:r>
            <a:endParaRPr lang="en-US" sz="2400">
              <a:ea typeface="Calibri"/>
              <a:cs typeface="Calibri"/>
            </a:endParaRPr>
          </a:p>
          <a:p>
            <a:pPr>
              <a:defRPr sz="1300">
                <a:solidFill>
                  <a:srgbClr val="0F172A"/>
                </a:solidFill>
              </a:defRPr>
            </a:pPr>
            <a:endParaRPr lang="en-US" sz="1600" b="1">
              <a:solidFill>
                <a:srgbClr val="DC143C"/>
              </a:solidFill>
            </a:endParaRPr>
          </a:p>
          <a:p>
            <a:pPr>
              <a:defRPr sz="1300">
                <a:solidFill>
                  <a:srgbClr val="0F172A"/>
                </a:solidFill>
              </a:defRPr>
            </a:pPr>
            <a:r>
              <a:rPr sz="2000"/>
              <a:t>• 100% Manual Data Entry controls.</a:t>
            </a:r>
            <a:endParaRPr lang="en-US" sz="2000"/>
          </a:p>
          <a:p>
            <a:pPr>
              <a:defRPr sz="1300">
                <a:solidFill>
                  <a:srgbClr val="0F172A"/>
                </a:solidFill>
              </a:defRPr>
            </a:pPr>
            <a:br>
              <a:rPr sz="2000"/>
            </a:br>
            <a:r>
              <a:rPr sz="2000"/>
              <a:t>• Zero hardcoded default dummy data.</a:t>
            </a:r>
            <a:endParaRPr lang="en-US" sz="2000"/>
          </a:p>
          <a:p>
            <a:pPr>
              <a:defRPr sz="1300">
                <a:solidFill>
                  <a:srgbClr val="0F172A"/>
                </a:solidFill>
              </a:defRPr>
            </a:pPr>
            <a:br>
              <a:rPr sz="2000"/>
            </a:br>
            <a:r>
              <a:rPr sz="2000"/>
              <a:t>• Interactive Add/Edit forms for Patients, Medicines, Caregivers &amp; Admins.</a:t>
            </a:r>
            <a:endParaRPr sz="20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1F2"/>
          </a:solidFill>
          <a:ln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C143C"/>
                </a:solidFill>
              </a:defRPr>
            </a:pPr>
            <a:r>
              <a:t>03. UI WIREFRAMES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Landing Page — Role Category Selection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114800" cy="51398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800" b="1">
                <a:solidFill>
                  <a:srgbClr val="DC143C"/>
                </a:solidFill>
              </a:defRPr>
            </a:pPr>
            <a:r>
              <a:rPr lang="en-US" sz="2400">
                <a:solidFill>
                  <a:srgbClr val="DC143C"/>
                </a:solidFill>
                <a:ea typeface="Calibri"/>
                <a:cs typeface="Calibri"/>
              </a:rPr>
              <a:t>🔑 Role Category Selection Hub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rPr sz="2000"/>
              <a:t>• Single Landing Page serving as the central portal entry point.</a:t>
            </a:r>
            <a:endParaRPr sz="2000">
              <a:ea typeface="Calibri"/>
              <a:cs typeface="Calibri"/>
            </a:endParaRPr>
          </a:p>
          <a:p>
            <a:pPr>
              <a:defRPr sz="1200">
                <a:solidFill>
                  <a:srgbClr val="0F172A"/>
                </a:solidFill>
              </a:defRPr>
            </a:pPr>
            <a:r>
              <a:rPr sz="2000"/>
              <a:t>• Features 3 role category cards with curved top headers:</a:t>
            </a:r>
            <a:endParaRPr sz="2000">
              <a:ea typeface="Calibri"/>
              <a:cs typeface="Calibri"/>
            </a:endParaRPr>
          </a:p>
          <a:p>
            <a:pPr>
              <a:defRPr sz="1200">
                <a:solidFill>
                  <a:srgbClr val="0F172A"/>
                </a:solidFill>
              </a:defRPr>
            </a:pPr>
            <a:r>
              <a:rPr sz="2000"/>
              <a:t>  1. Patient Portal (Login &amp; /patient direct route)</a:t>
            </a:r>
            <a:endParaRPr sz="2000">
              <a:ea typeface="Calibri"/>
              <a:cs typeface="Calibri"/>
            </a:endParaRPr>
          </a:p>
          <a:p>
            <a:pPr>
              <a:defRPr sz="1200">
                <a:solidFill>
                  <a:srgbClr val="0F172A"/>
                </a:solidFill>
              </a:defRPr>
            </a:pPr>
            <a:r>
              <a:rPr sz="2000"/>
              <a:t>  2. Caregiver Portal (Login &amp; /caregiver direct route)</a:t>
            </a:r>
            <a:endParaRPr sz="2000">
              <a:ea typeface="Calibri"/>
              <a:cs typeface="Calibri"/>
            </a:endParaRPr>
          </a:p>
          <a:p>
            <a:pPr>
              <a:defRPr sz="1200">
                <a:solidFill>
                  <a:srgbClr val="0F172A"/>
                </a:solidFill>
              </a:defRPr>
            </a:pPr>
            <a:r>
              <a:rPr sz="2000"/>
              <a:t>  3. Admin Console (Login &amp; /admin direct route)</a:t>
            </a:r>
            <a:endParaRPr sz="2000">
              <a:ea typeface="Calibri"/>
              <a:cs typeface="Calibri"/>
            </a:endParaRPr>
          </a:p>
          <a:p>
            <a:pPr>
              <a:defRPr sz="1200">
                <a:solidFill>
                  <a:srgbClr val="0F172A"/>
                </a:solidFill>
              </a:defRPr>
            </a:pPr>
            <a:r>
              <a:rPr sz="2000"/>
              <a:t>• High visual impact matching intern reference design requirements.</a:t>
            </a:r>
            <a:endParaRPr sz="2000">
              <a:ea typeface="Calibri"/>
              <a:cs typeface="Calibri"/>
            </a:endParaRPr>
          </a:p>
          <a:p>
            <a:pPr>
              <a:defRPr sz="1200">
                <a:solidFill>
                  <a:srgbClr val="0F172A"/>
                </a:solidFill>
              </a:defRPr>
            </a:pPr>
            <a:r>
              <a:rPr sz="2000"/>
              <a:t>• Direct access shortcuts in top header bar.</a:t>
            </a:r>
            <a:endParaRPr sz="2000">
              <a:ea typeface="Calibri"/>
              <a:cs typeface="Calibri"/>
            </a:endParaRPr>
          </a:p>
        </p:txBody>
      </p:sp>
      <p:pic>
        <p:nvPicPr>
          <p:cNvPr id="6" name="Picture 5" descr="media__17882640422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80160"/>
            <a:ext cx="6400800" cy="44180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1F2"/>
          </a:solidFill>
          <a:ln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C143C"/>
                </a:solidFill>
              </a:defRPr>
            </a:pPr>
            <a:r>
              <a:t>04. PATIENT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Patient Portal — Dosage Schedule &amp; Health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114800" cy="48320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800" b="1">
                <a:solidFill>
                  <a:srgbClr val="DC143C"/>
                </a:solidFill>
              </a:defRPr>
            </a:pPr>
            <a:r>
              <a:rPr sz="2400"/>
              <a:t>💊 Patient Dashboard &amp; Profile Hub</a:t>
            </a:r>
            <a:endParaRPr lang="en-US" sz="2400">
              <a:ea typeface="Calibri"/>
              <a:cs typeface="Calibri"/>
            </a:endParaRPr>
          </a:p>
          <a:p>
            <a:pPr>
              <a:defRPr sz="1200">
                <a:solidFill>
                  <a:srgbClr val="0F172A"/>
                </a:solidFill>
              </a:defRPr>
            </a:pPr>
            <a:r>
              <a:rPr sz="2000"/>
              <a:t>• 100% Clean Empty State — No hardcoded dummy medicines.</a:t>
            </a:r>
            <a:endParaRPr sz="2000">
              <a:ea typeface="Calibri"/>
              <a:cs typeface="Calibri"/>
            </a:endParaRPr>
          </a:p>
          <a:p>
            <a:pPr>
              <a:defRPr sz="1200">
                <a:solidFill>
                  <a:srgbClr val="0F172A"/>
                </a:solidFill>
              </a:defRPr>
            </a:pPr>
            <a:r>
              <a:rPr sz="2000"/>
              <a:t>• Interactive Quick Actions: [ + Add Medicine ] and [ Upload Prescription ].</a:t>
            </a:r>
            <a:endParaRPr sz="2000">
              <a:ea typeface="Calibri"/>
              <a:cs typeface="Calibri"/>
            </a:endParaRPr>
          </a:p>
          <a:p>
            <a:pPr>
              <a:defRPr sz="1200">
                <a:solidFill>
                  <a:srgbClr val="0F172A"/>
                </a:solidFill>
              </a:defRPr>
            </a:pPr>
            <a:r>
              <a:rPr sz="2000"/>
              <a:t>• Dual Add Method: Manual Entry form &amp; AI/OCR Prescription Image Upload.</a:t>
            </a:r>
            <a:endParaRPr sz="2000">
              <a:ea typeface="Calibri"/>
              <a:cs typeface="Calibri"/>
            </a:endParaRPr>
          </a:p>
          <a:p>
            <a:pPr>
              <a:defRPr sz="1200">
                <a:solidFill>
                  <a:srgbClr val="0F172A"/>
                </a:solidFill>
              </a:defRPr>
            </a:pPr>
            <a:r>
              <a:rPr sz="2000"/>
              <a:t>• 1-Click Dosage Logger: [ Taken ], [ Missed ], [ Snooze 15m ].</a:t>
            </a:r>
            <a:endParaRPr sz="2000">
              <a:ea typeface="Calibri"/>
              <a:cs typeface="Calibri"/>
            </a:endParaRPr>
          </a:p>
          <a:p>
            <a:pPr>
              <a:defRPr sz="1200">
                <a:solidFill>
                  <a:srgbClr val="0F172A"/>
                </a:solidFill>
              </a:defRPr>
            </a:pPr>
            <a:r>
              <a:rPr sz="2000"/>
              <a:t>• Consolidated Profile Sub-tabs: Personal Info, Adherence %, Refill Engine, History Logs.</a:t>
            </a:r>
            <a:endParaRPr sz="2000">
              <a:ea typeface="Calibri"/>
              <a:cs typeface="Calibri"/>
            </a:endParaRPr>
          </a:p>
        </p:txBody>
      </p:sp>
      <p:pic>
        <p:nvPicPr>
          <p:cNvPr id="6" name="Picture 5" descr="media__17882640423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6160" y="1280160"/>
            <a:ext cx="6593840" cy="449157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1F2"/>
          </a:solidFill>
          <a:ln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C143C"/>
                </a:solidFill>
              </a:defRPr>
            </a:pPr>
            <a:r>
              <a:t>05. CAREGIVER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Caregiver Portal — Patient Roster &amp; Alert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114800" cy="48320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800" b="1">
                <a:solidFill>
                  <a:srgbClr val="DC143C"/>
                </a:solidFill>
              </a:defRPr>
            </a:pPr>
            <a:r>
              <a:rPr sz="2400"/>
              <a:t>👥 Caregiver Dashboard &amp; Alert Feeds</a:t>
            </a:r>
            <a:endParaRPr lang="en-US" sz="2400">
              <a:ea typeface="Calibri"/>
              <a:cs typeface="Calibri"/>
            </a:endParaRPr>
          </a:p>
          <a:p>
            <a:pPr>
              <a:defRPr sz="1200">
                <a:solidFill>
                  <a:srgbClr val="0F172A"/>
                </a:solidFill>
              </a:defRPr>
            </a:pPr>
            <a:r>
              <a:rPr sz="2000"/>
              <a:t>• Monitored Patient Roster: Clean empty state with [ + Assign New Patient ] form.</a:t>
            </a:r>
            <a:endParaRPr sz="2000">
              <a:ea typeface="Calibri"/>
              <a:cs typeface="Calibri"/>
            </a:endParaRPr>
          </a:p>
          <a:p>
            <a:pPr>
              <a:defRPr sz="1200">
                <a:solidFill>
                  <a:srgbClr val="0F172A"/>
                </a:solidFill>
              </a:defRPr>
            </a:pPr>
            <a:r>
              <a:rPr sz="2000"/>
              <a:t>• Patient Details Page (/caregiver/patients): View compliance, adherence %, and emergency contact info.</a:t>
            </a:r>
            <a:endParaRPr sz="2000">
              <a:ea typeface="Calibri"/>
              <a:cs typeface="Calibri"/>
            </a:endParaRPr>
          </a:p>
          <a:p>
            <a:pPr>
              <a:defRPr sz="1200">
                <a:solidFill>
                  <a:srgbClr val="0F172A"/>
                </a:solidFill>
              </a:defRPr>
            </a:pPr>
            <a:r>
              <a:rPr sz="2000"/>
              <a:t>• Missed-Dose Alert Stream: Real-time log of missed patient routines.</a:t>
            </a:r>
            <a:endParaRPr sz="2000">
              <a:ea typeface="Calibri"/>
              <a:cs typeface="Calibri"/>
            </a:endParaRPr>
          </a:p>
          <a:p>
            <a:pPr>
              <a:defRPr sz="1200">
                <a:solidFill>
                  <a:srgbClr val="0F172A"/>
                </a:solidFill>
              </a:defRPr>
            </a:pPr>
            <a:r>
              <a:rPr sz="2000"/>
              <a:t>• Refill Notifications Feed: Stock depletion warnings.</a:t>
            </a:r>
            <a:endParaRPr sz="2000">
              <a:ea typeface="Calibri"/>
              <a:cs typeface="Calibri"/>
            </a:endParaRPr>
          </a:p>
          <a:p>
            <a:pPr>
              <a:defRPr sz="1200">
                <a:solidFill>
                  <a:srgbClr val="0F172A"/>
                </a:solidFill>
              </a:defRPr>
            </a:pPr>
            <a:r>
              <a:rPr sz="2000"/>
              <a:t>• Caregiver Actions: [ Send Nudge ] &amp; [ Emergency Call Patient ].</a:t>
            </a:r>
            <a:endParaRPr sz="2000">
              <a:ea typeface="Calibri"/>
              <a:cs typeface="Calibri"/>
            </a:endParaRPr>
          </a:p>
        </p:txBody>
      </p:sp>
      <p:pic>
        <p:nvPicPr>
          <p:cNvPr id="6" name="Picture 5" descr="media__17882640423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80160"/>
            <a:ext cx="6400800" cy="43641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1F2"/>
          </a:solidFill>
          <a:ln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C143C"/>
                </a:solidFill>
              </a:defRPr>
            </a:pPr>
            <a:r>
              <a:t>06. ADMIN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Admin Console — User Management &amp; System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114800" cy="48320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800" b="1">
                <a:solidFill>
                  <a:srgbClr val="DC143C"/>
                </a:solidFill>
              </a:defRPr>
            </a:pPr>
            <a:r>
              <a:rPr sz="2400"/>
              <a:t>⚙️ System Administration Console</a:t>
            </a:r>
            <a:endParaRPr lang="en-US" sz="2400">
              <a:ea typeface="Calibri"/>
              <a:cs typeface="Calibri"/>
            </a:endParaRPr>
          </a:p>
          <a:p>
            <a:pPr>
              <a:defRPr sz="1200">
                <a:solidFill>
                  <a:srgbClr val="0F172A"/>
                </a:solidFill>
              </a:defRPr>
            </a:pPr>
            <a:r>
              <a:rPr sz="2000"/>
              <a:t>• Dynamic Metric Counters: Users (0), Patients (0), Caregivers (0), Admins (0) — calculated live from user entries.</a:t>
            </a:r>
            <a:endParaRPr sz="2000">
              <a:ea typeface="Calibri"/>
              <a:cs typeface="Calibri"/>
            </a:endParaRPr>
          </a:p>
          <a:p>
            <a:pPr>
              <a:defRPr sz="1200">
                <a:solidFill>
                  <a:srgbClr val="0F172A"/>
                </a:solidFill>
              </a:defRPr>
            </a:pPr>
            <a:r>
              <a:rPr sz="2000"/>
              <a:t>• Registered User Directory: Manage user roles and permission states.</a:t>
            </a:r>
            <a:endParaRPr sz="2000">
              <a:ea typeface="Calibri"/>
              <a:cs typeface="Calibri"/>
            </a:endParaRPr>
          </a:p>
          <a:p>
            <a:pPr>
              <a:defRPr sz="1200">
                <a:solidFill>
                  <a:srgbClr val="0F172A"/>
                </a:solidFill>
              </a:defRPr>
            </a:pPr>
            <a:r>
              <a:rPr sz="2000"/>
              <a:t>• Manual User Registration: Form to register Patient, Caregiver, or Admin accounts.</a:t>
            </a:r>
            <a:endParaRPr sz="2000">
              <a:ea typeface="Calibri"/>
              <a:cs typeface="Calibri"/>
            </a:endParaRPr>
          </a:p>
          <a:p>
            <a:pPr>
              <a:defRPr sz="1200">
                <a:solidFill>
                  <a:srgbClr val="0F172A"/>
                </a:solidFill>
              </a:defRPr>
            </a:pPr>
            <a:r>
              <a:rPr sz="2000"/>
              <a:t>• Account Controls: 1-click [ Block ], [ Unblock ], or [ Delete ] user actions.</a:t>
            </a:r>
            <a:endParaRPr sz="2000">
              <a:ea typeface="Calibri"/>
              <a:cs typeface="Calibri"/>
            </a:endParaRPr>
          </a:p>
          <a:p>
            <a:pPr>
              <a:defRPr sz="1200">
                <a:solidFill>
                  <a:srgbClr val="0F172A"/>
                </a:solidFill>
              </a:defRPr>
            </a:pPr>
            <a:r>
              <a:rPr sz="2000"/>
              <a:t>• Notification Gateway: Toggle Push, Email, and SMS notification channels.</a:t>
            </a:r>
            <a:endParaRPr sz="2000">
              <a:ea typeface="Calibri"/>
              <a:cs typeface="Calibri"/>
            </a:endParaRPr>
          </a:p>
        </p:txBody>
      </p:sp>
      <p:pic>
        <p:nvPicPr>
          <p:cNvPr id="6" name="Picture 5" descr="media__17882640423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80160"/>
            <a:ext cx="6400800" cy="48635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1F2"/>
          </a:solidFill>
          <a:ln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C143C"/>
                </a:solidFill>
              </a:defRPr>
            </a:pPr>
            <a:r>
              <a:t>07.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System Workflows &amp; Architecture Planning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4846320" cy="161582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500" b="1">
                <a:solidFill>
                  <a:srgbClr val="DC143C"/>
                </a:solidFill>
              </a:defRPr>
            </a:pPr>
            <a:r>
              <a:rPr sz="2400"/>
              <a:t>🔐 1. Authentication Flow</a:t>
            </a:r>
            <a:endParaRPr lang="en-US" sz="2400">
              <a:ea typeface="Calibri"/>
              <a:cs typeface="Calibri"/>
            </a:endParaRPr>
          </a:p>
          <a:p>
            <a:pPr>
              <a:defRPr sz="1200">
                <a:solidFill>
                  <a:srgbClr val="0F172A"/>
                </a:solidFill>
              </a:defRPr>
            </a:pPr>
            <a:endParaRPr lang="en-US" sz="1500" b="1">
              <a:solidFill>
                <a:srgbClr val="DC143C"/>
              </a:solidFill>
            </a:endParaRPr>
          </a:p>
          <a:p>
            <a:pPr>
              <a:defRPr sz="1200">
                <a:solidFill>
                  <a:srgbClr val="0F172A"/>
                </a:solidFill>
              </a:defRPr>
            </a:pPr>
            <a:r>
              <a:rPr sz="2000"/>
              <a:t>Role Category Selection ➔ Login Page ➔ Role Verification ➔ Redirect to /patient, /caregiver, or /admin.</a:t>
            </a:r>
            <a:endParaRPr sz="2000">
              <a:ea typeface="Calibri"/>
              <a:cs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63640" y="1600200"/>
            <a:ext cx="4846320" cy="161582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500" b="1">
                <a:solidFill>
                  <a:srgbClr val="DC143C"/>
                </a:solidFill>
              </a:defRPr>
            </a:pPr>
            <a:r>
              <a:rPr sz="2400"/>
              <a:t>⏰ 2. Reminder &amp; Schedule Flow</a:t>
            </a:r>
            <a:endParaRPr lang="en-US" sz="2400">
              <a:ea typeface="Calibri"/>
              <a:cs typeface="Calibri"/>
            </a:endParaRPr>
          </a:p>
          <a:p>
            <a:pPr>
              <a:defRPr sz="1200">
                <a:solidFill>
                  <a:srgbClr val="0F172A"/>
                </a:solidFill>
              </a:defRPr>
            </a:pPr>
            <a:endParaRPr lang="en-US" sz="1500" b="1">
              <a:solidFill>
                <a:srgbClr val="DC143C"/>
              </a:solidFill>
            </a:endParaRPr>
          </a:p>
          <a:p>
            <a:pPr>
              <a:defRPr sz="1200">
                <a:solidFill>
                  <a:srgbClr val="0F172A"/>
                </a:solidFill>
              </a:defRPr>
            </a:pPr>
            <a:r>
              <a:rPr sz="2000"/>
              <a:t>Add Medicine Form ➔ Daily Routine Setup (8am/1pm/8pm) ➔ Trigger Reminder Modal ➔ Log Intake (Taken/Missed/Snooze).</a:t>
            </a:r>
            <a:endParaRPr sz="2000">
              <a:ea typeface="Calibri"/>
              <a:cs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069080"/>
            <a:ext cx="4846320" cy="175432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500" b="1">
                <a:solidFill>
                  <a:srgbClr val="DC143C"/>
                </a:solidFill>
              </a:defRPr>
            </a:pPr>
            <a:r>
              <a:rPr sz="2400"/>
              <a:t>📷 3. Prescription OCR Flow</a:t>
            </a:r>
            <a:endParaRPr lang="en-US" sz="2400">
              <a:ea typeface="Calibri"/>
              <a:cs typeface="Calibri"/>
            </a:endParaRPr>
          </a:p>
          <a:p>
            <a:pPr>
              <a:defRPr sz="1200">
                <a:solidFill>
                  <a:srgbClr val="0F172A"/>
                </a:solidFill>
              </a:defRPr>
            </a:pPr>
            <a:endParaRPr lang="en-US" sz="2400" b="1">
              <a:solidFill>
                <a:srgbClr val="DC143C"/>
              </a:solidFill>
            </a:endParaRPr>
          </a:p>
          <a:p>
            <a:pPr>
              <a:defRPr sz="1200">
                <a:solidFill>
                  <a:srgbClr val="0F172A"/>
                </a:solidFill>
              </a:defRPr>
            </a:pPr>
            <a:r>
              <a:rPr sz="2000"/>
              <a:t>Upload Prescription Image ➔ AI/OCR Parsing ➔ Extract Name, Dosage, Stock ➔ Review &amp; Save to Schedule.</a:t>
            </a:r>
            <a:endParaRPr sz="2000">
              <a:ea typeface="Calibri"/>
              <a:cs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096000" y="393192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4069080"/>
            <a:ext cx="4846320" cy="175432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500" b="1">
                <a:solidFill>
                  <a:srgbClr val="DC143C"/>
                </a:solidFill>
              </a:defRPr>
            </a:pPr>
            <a:r>
              <a:rPr sz="2400"/>
              <a:t>🚨 4. Caregiver Escalation Flow</a:t>
            </a:r>
            <a:endParaRPr lang="en-US" sz="2400">
              <a:ea typeface="Calibri"/>
              <a:cs typeface="Calibri"/>
            </a:endParaRPr>
          </a:p>
          <a:p>
            <a:pPr>
              <a:defRPr sz="1200">
                <a:solidFill>
                  <a:srgbClr val="0F172A"/>
                </a:solidFill>
              </a:defRPr>
            </a:pPr>
            <a:endParaRPr lang="en-US" sz="2400" b="1">
              <a:solidFill>
                <a:srgbClr val="DC143C"/>
              </a:solidFill>
            </a:endParaRPr>
          </a:p>
          <a:p>
            <a:pPr>
              <a:defRPr sz="1200">
                <a:solidFill>
                  <a:srgbClr val="0F172A"/>
                </a:solidFill>
              </a:defRPr>
            </a:pPr>
            <a:r>
              <a:rPr sz="2000"/>
              <a:t>Patient Misses Dose ➔ Log Missed Event ➔ Dispatch Alert to Caregiver Stream ➔ Caregiver Triggers Nudge / Call.</a:t>
            </a:r>
            <a:endParaRPr sz="20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1F2"/>
          </a:solidFill>
          <a:ln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C143C"/>
                </a:solidFill>
              </a:defRPr>
            </a:pPr>
            <a:r>
              <a:t>08.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Quality Assurance, Testing &amp; Git Deliverables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600" b="1">
                <a:solidFill>
                  <a:srgbClr val="DC143C"/>
                </a:solidFill>
              </a:defRPr>
            </a:pPr>
            <a:r>
              <a:rPr sz="2400"/>
              <a:t>🧪 Automated Test &amp; Build Verification</a:t>
            </a:r>
            <a:endParaRPr lang="en-US" sz="2400">
              <a:ea typeface="Calibri"/>
              <a:cs typeface="Calibri"/>
            </a:endParaRPr>
          </a:p>
          <a:p>
            <a:pPr>
              <a:defRPr sz="1300">
                <a:solidFill>
                  <a:srgbClr val="0F172A"/>
                </a:solidFill>
              </a:defRPr>
            </a:pPr>
            <a:endParaRPr lang="en-US" sz="1600" b="1">
              <a:solidFill>
                <a:srgbClr val="DC143C"/>
              </a:solidFill>
            </a:endParaRPr>
          </a:p>
          <a:p>
            <a:pPr>
              <a:defRPr sz="1300">
                <a:solidFill>
                  <a:srgbClr val="0F172A"/>
                </a:solidFill>
              </a:defRPr>
            </a:pPr>
            <a:r>
              <a:rPr sz="2000"/>
              <a:t>✅ </a:t>
            </a:r>
            <a:r>
              <a:rPr sz="2000" err="1"/>
              <a:t>npm</a:t>
            </a:r>
            <a:r>
              <a:rPr sz="2000"/>
              <a:t> run </a:t>
            </a:r>
            <a:r>
              <a:rPr sz="2000" err="1"/>
              <a:t>format:check</a:t>
            </a:r>
            <a:r>
              <a:rPr sz="2000"/>
              <a:t> — Passed cleanly</a:t>
            </a:r>
            <a:endParaRPr sz="2000">
              <a:ea typeface="Calibri"/>
              <a:cs typeface="Calibri"/>
            </a:endParaRPr>
          </a:p>
          <a:p>
            <a:pPr>
              <a:defRPr sz="1300">
                <a:solidFill>
                  <a:srgbClr val="0F172A"/>
                </a:solidFill>
              </a:defRPr>
            </a:pPr>
            <a:r>
              <a:rPr sz="2000"/>
              <a:t>✅ </a:t>
            </a:r>
            <a:r>
              <a:rPr sz="2000" err="1"/>
              <a:t>npm</a:t>
            </a:r>
            <a:r>
              <a:rPr sz="2000"/>
              <a:t> run test — Passed cleanly</a:t>
            </a:r>
            <a:endParaRPr sz="2000">
              <a:ea typeface="Calibri"/>
              <a:cs typeface="Calibri"/>
            </a:endParaRPr>
          </a:p>
          <a:p>
            <a:pPr>
              <a:defRPr sz="1300">
                <a:solidFill>
                  <a:srgbClr val="0F172A"/>
                </a:solidFill>
              </a:defRPr>
            </a:pPr>
            <a:r>
              <a:rPr sz="2000"/>
              <a:t>✅ </a:t>
            </a:r>
            <a:r>
              <a:rPr sz="2000" err="1"/>
              <a:t>npm</a:t>
            </a:r>
            <a:r>
              <a:rPr sz="2000"/>
              <a:t> run build — 0 Errors (Production bundle generated)</a:t>
            </a:r>
            <a:endParaRPr sz="2000">
              <a:ea typeface="Calibri"/>
              <a:cs typeface="Calibri"/>
            </a:endParaRPr>
          </a:p>
          <a:p>
            <a:pPr>
              <a:defRPr sz="1300">
                <a:solidFill>
                  <a:srgbClr val="0F172A"/>
                </a:solidFill>
              </a:defRPr>
            </a:pPr>
            <a:r>
              <a:rPr sz="2000"/>
              <a:t>✅ Secret &amp; Hygiene Check — Zero credentials committed</a:t>
            </a:r>
            <a:endParaRPr sz="2000">
              <a:ea typeface="Calibri"/>
              <a:cs typeface="Calibri"/>
            </a:endParaRPr>
          </a:p>
          <a:p>
            <a:pPr>
              <a:defRPr sz="1300">
                <a:solidFill>
                  <a:srgbClr val="0F172A"/>
                </a:solidFill>
              </a:defRPr>
            </a:pPr>
            <a:r>
              <a:rPr sz="2000"/>
              <a:t>✅ Responsive Layout Test — Verified across viewport sizes</a:t>
            </a:r>
            <a:endParaRPr sz="2000">
              <a:ea typeface="Calibri"/>
              <a:cs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1F2"/>
          </a:solidFill>
          <a:ln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390876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600" b="1">
                <a:solidFill>
                  <a:srgbClr val="DC143C"/>
                </a:solidFill>
              </a:defRPr>
            </a:pPr>
            <a:r>
              <a:rPr sz="2400"/>
              <a:t>🚀 GitHub Repositories Pushed</a:t>
            </a:r>
            <a:endParaRPr lang="en-US" sz="2400">
              <a:ea typeface="Calibri"/>
              <a:cs typeface="Calibri"/>
            </a:endParaRPr>
          </a:p>
          <a:p>
            <a:pPr>
              <a:defRPr sz="1200">
                <a:solidFill>
                  <a:srgbClr val="0F172A"/>
                </a:solidFill>
              </a:defRPr>
            </a:pPr>
            <a:endParaRPr lang="en-US" sz="2400" b="1">
              <a:solidFill>
                <a:srgbClr val="DC143C"/>
              </a:solidFill>
            </a:endParaRPr>
          </a:p>
          <a:p>
            <a:pPr>
              <a:defRPr sz="1200">
                <a:solidFill>
                  <a:srgbClr val="0F172A"/>
                </a:solidFill>
              </a:defRPr>
            </a:pPr>
            <a:r>
              <a:rPr sz="2000"/>
              <a:t>1. Personal &amp; Team Repository:</a:t>
            </a:r>
            <a:br>
              <a:rPr sz="2000"/>
            </a:br>
            <a:r>
              <a:rPr sz="2000"/>
              <a:t>   • URL: github.com/</a:t>
            </a:r>
            <a:r>
              <a:rPr sz="2000" err="1"/>
              <a:t>rajasrinallamilli</a:t>
            </a:r>
            <a:r>
              <a:rPr sz="2000"/>
              <a:t>/pillsync2</a:t>
            </a:r>
            <a:br>
              <a:rPr sz="2000"/>
            </a:br>
            <a:r>
              <a:rPr sz="2000"/>
              <a:t>   • Branches: main &amp; </a:t>
            </a:r>
            <a:r>
              <a:rPr sz="2000" err="1"/>
              <a:t>rajasri</a:t>
            </a:r>
            <a:endParaRPr sz="2000" err="1">
              <a:ea typeface="Calibri"/>
              <a:cs typeface="Calibri"/>
            </a:endParaRPr>
          </a:p>
          <a:p>
            <a:pPr>
              <a:defRPr sz="1200">
                <a:solidFill>
                  <a:srgbClr val="0F172A"/>
                </a:solidFill>
              </a:defRPr>
            </a:pPr>
            <a:r>
              <a:rPr sz="2000"/>
              <a:t>2. Official Mentor Internship Repository:</a:t>
            </a:r>
            <a:br>
              <a:rPr sz="2000"/>
            </a:br>
            <a:r>
              <a:rPr sz="2000"/>
              <a:t>   • URL: github.com/GKSJ-</a:t>
            </a:r>
            <a:r>
              <a:rPr sz="2000" err="1"/>
              <a:t>Deepvision</a:t>
            </a:r>
            <a:r>
              <a:rPr sz="2000"/>
              <a:t>/</a:t>
            </a:r>
            <a:r>
              <a:rPr sz="2000" err="1"/>
              <a:t>PillSync</a:t>
            </a:r>
            <a:br>
              <a:rPr sz="2000"/>
            </a:br>
            <a:r>
              <a:rPr sz="2000"/>
              <a:t>   • Branch: intern/03-rajasri-nallamilli</a:t>
            </a:r>
            <a:br>
              <a:rPr sz="2000"/>
            </a:br>
            <a:r>
              <a:rPr sz="2000"/>
              <a:t>   • Fully compliant with INTERN_GUIDE.md roster rules.</a:t>
            </a:r>
            <a:endParaRPr sz="20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1F2"/>
          </a:solidFill>
          <a:ln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C143C"/>
                </a:solidFill>
              </a:defRPr>
            </a:pPr>
            <a:r>
              <a:t>09.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Conclusion &amp; Milestone 2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463040"/>
            <a:ext cx="9448495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45920" y="1737360"/>
            <a:ext cx="8869680" cy="37856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000" b="1">
                <a:solidFill>
                  <a:srgbClr val="DC143C"/>
                </a:solidFill>
              </a:defRPr>
            </a:pPr>
            <a:r>
              <a:rPr sz="2400"/>
              <a:t>Milestone 1 Successfully Completed!</a:t>
            </a:r>
            <a:endParaRPr lang="en-US" sz="2400">
              <a:ea typeface="Calibri"/>
              <a:cs typeface="Calibri"/>
            </a:endParaRPr>
          </a:p>
          <a:p>
            <a:pPr>
              <a:defRPr sz="1400">
                <a:solidFill>
                  <a:srgbClr val="0F172A"/>
                </a:solidFill>
              </a:defRPr>
            </a:pPr>
            <a:r>
              <a:rPr sz="2000"/>
              <a:t>• All assigned Milestone 1 frontend components, 25-screen wireframe blueprints, and system workflow diagrams are 100% complete and verified.</a:t>
            </a:r>
            <a:endParaRPr sz="2000">
              <a:ea typeface="Calibri"/>
              <a:cs typeface="Calibri"/>
            </a:endParaRPr>
          </a:p>
          <a:p>
            <a:pPr>
              <a:defRPr sz="1400">
                <a:solidFill>
                  <a:srgbClr val="0F172A"/>
                </a:solidFill>
              </a:defRPr>
            </a:pPr>
            <a:r>
              <a:rPr sz="2000"/>
              <a:t>• 🚀 Milestone 2 Roadmap Ahead (Weeks 3–4):</a:t>
            </a:r>
            <a:endParaRPr sz="2000">
              <a:ea typeface="Calibri"/>
              <a:cs typeface="Calibri"/>
            </a:endParaRPr>
          </a:p>
          <a:p>
            <a:pPr>
              <a:defRPr sz="1400">
                <a:solidFill>
                  <a:srgbClr val="0F172A"/>
                </a:solidFill>
              </a:defRPr>
            </a:pPr>
            <a:r>
              <a:rPr sz="2000"/>
              <a:t>   - Integrate frontend UI with Teammates' REST API endpoints &amp; PostgreSQL database schema.</a:t>
            </a:r>
            <a:endParaRPr sz="2000">
              <a:ea typeface="Calibri"/>
              <a:cs typeface="Calibri"/>
            </a:endParaRPr>
          </a:p>
          <a:p>
            <a:pPr>
              <a:defRPr sz="1400">
                <a:solidFill>
                  <a:srgbClr val="0F172A"/>
                </a:solidFill>
              </a:defRPr>
            </a:pPr>
            <a:r>
              <a:rPr sz="2000"/>
              <a:t>   - Connect JWT Authentication tokens &amp; Role-based Access Control (RBAC) middleware.</a:t>
            </a:r>
            <a:endParaRPr sz="2000">
              <a:ea typeface="Calibri"/>
              <a:cs typeface="Calibri"/>
            </a:endParaRPr>
          </a:p>
          <a:p>
            <a:pPr>
              <a:defRPr sz="1400">
                <a:solidFill>
                  <a:srgbClr val="0F172A"/>
                </a:solidFill>
              </a:defRPr>
            </a:pPr>
            <a:r>
              <a:rPr sz="2000"/>
              <a:t>   - Implement live push, email, and SMS reminder notifications.</a:t>
            </a:r>
            <a:endParaRPr sz="2000">
              <a:ea typeface="Calibri"/>
              <a:cs typeface="Calibri"/>
            </a:endParaRPr>
          </a:p>
          <a:p>
            <a:pPr>
              <a:defRPr sz="1400">
                <a:solidFill>
                  <a:srgbClr val="0F172A"/>
                </a:solidFill>
              </a:defRPr>
            </a:pPr>
            <a:r>
              <a:rPr sz="2000"/>
              <a:t>   - Enhance AI/OCR prescription scanning engine &amp; refill predictions.</a:t>
            </a:r>
            <a:endParaRPr sz="2000">
              <a:ea typeface="Calibri"/>
              <a:cs typeface="Calibri"/>
            </a:endParaRPr>
          </a:p>
          <a:p>
            <a:br>
              <a:rPr/>
            </a:br>
            <a:r>
              <a:t>Thank you! Questions &amp; Feedback</a:t>
            </a:r>
            <a:r>
              <a:rPr lang="en-US"/>
              <a:t>.</a:t>
            </a:r>
            <a:endParaRPr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1</cp:revision>
  <dcterms:created xsi:type="dcterms:W3CDTF">2013-01-27T09:14:16Z</dcterms:created>
  <dcterms:modified xsi:type="dcterms:W3CDTF">2026-09-01T12:27:37Z</dcterms:modified>
  <cp:category/>
</cp:coreProperties>
</file>